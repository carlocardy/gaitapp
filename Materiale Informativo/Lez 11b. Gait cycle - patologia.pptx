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4asOvxPH6BALvQ2aJrdtA/aEA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1" Type="http://schemas.openxmlformats.org/officeDocument/2006/relationships/hyperlink" Target="https://it.wikipedia.org/wiki/Coscia" TargetMode="External"/><Relationship Id="rId10" Type="http://schemas.openxmlformats.org/officeDocument/2006/relationships/hyperlink" Target="https://it.wikipedia.org/wiki/Arto_inferiore" TargetMode="External"/><Relationship Id="rId13" Type="http://schemas.openxmlformats.org/officeDocument/2006/relationships/hyperlink" Target="https://it.wikipedia.org/wiki/Piede" TargetMode="External"/><Relationship Id="rId12" Type="http://schemas.openxmlformats.org/officeDocument/2006/relationships/hyperlink" Target="https://it.wikipedia.org/wiki/Gamba" TargetMode="External"/><Relationship Id="rId1" Type="http://schemas.openxmlformats.org/officeDocument/2006/relationships/notesMaster" Target="../notesMasters/notesMaster1.xml"/><Relationship Id="rId2" Type="http://schemas.openxmlformats.org/officeDocument/2006/relationships/hyperlink" Target="https://it.wikipedia.org/wiki/Postura" TargetMode="External"/><Relationship Id="rId3" Type="http://schemas.openxmlformats.org/officeDocument/2006/relationships/hyperlink" Target="https://it.wikipedia.org/wiki/Malattia_di_Parkinson" TargetMode="External"/><Relationship Id="rId4" Type="http://schemas.openxmlformats.org/officeDocument/2006/relationships/hyperlink" Target="https://it.wikipedia.org/wiki/Tronco_(anatomia)" TargetMode="External"/><Relationship Id="rId9" Type="http://schemas.openxmlformats.org/officeDocument/2006/relationships/hyperlink" Target="https://it.wikipedia.org/wiki/Avambraccio" TargetMode="External"/><Relationship Id="rId14" Type="http://schemas.openxmlformats.org/officeDocument/2006/relationships/hyperlink" Target="https://it.wikipedia.org/wiki/Varismo" TargetMode="External"/><Relationship Id="rId5" Type="http://schemas.openxmlformats.org/officeDocument/2006/relationships/hyperlink" Target="https://it.wikipedia.org/wiki/Testa" TargetMode="External"/><Relationship Id="rId6" Type="http://schemas.openxmlformats.org/officeDocument/2006/relationships/hyperlink" Target="https://it.wikipedia.org/wiki/Arto_superiore" TargetMode="External"/><Relationship Id="rId7" Type="http://schemas.openxmlformats.org/officeDocument/2006/relationships/hyperlink" Target="https://it.wikipedia.org/wiki/Adduzione_(fisiologia)" TargetMode="External"/><Relationship Id="rId8" Type="http://schemas.openxmlformats.org/officeDocument/2006/relationships/hyperlink" Target="https://it.wikipedia.org/wiki/Spalla"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IT"/>
              <a:t>1: La presentazione clinica di una deambulazione antalgica è altamente variabile e dispende sostanzialmente dalla localizzazione del danno. In questa slide sono riportate le alterazioni più comuni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it-IT" u="none">
                <a:solidFill>
                  <a:schemeClr val="dk1"/>
                </a:solidFill>
                <a:highlight>
                  <a:srgbClr val="FFFFFF"/>
                </a:highlight>
                <a:latin typeface="Arial"/>
                <a:ea typeface="Arial"/>
                <a:cs typeface="Arial"/>
                <a:sym typeface="Arial"/>
              </a:rPr>
              <a:t>1: (da wikipedia) La </a:t>
            </a:r>
            <a:r>
              <a:rPr b="1" i="0" lang="it-IT" u="none">
                <a:solidFill>
                  <a:schemeClr val="dk1"/>
                </a:solidFill>
                <a:highlight>
                  <a:srgbClr val="FFFFFF"/>
                </a:highlight>
                <a:latin typeface="Arial"/>
                <a:ea typeface="Arial"/>
                <a:cs typeface="Arial"/>
                <a:sym typeface="Arial"/>
              </a:rPr>
              <a:t>camptocormia</a:t>
            </a:r>
            <a:r>
              <a:rPr b="0" i="0" lang="it-IT" u="none">
                <a:solidFill>
                  <a:schemeClr val="dk1"/>
                </a:solidFill>
                <a:highlight>
                  <a:srgbClr val="FFFFFF"/>
                </a:highlight>
                <a:latin typeface="Arial"/>
                <a:ea typeface="Arial"/>
                <a:cs typeface="Arial"/>
                <a:sym typeface="Arial"/>
              </a:rPr>
              <a:t> è un atteggiamento </a:t>
            </a:r>
            <a:r>
              <a:rPr b="0" i="0" lang="it-IT" u="sng" strike="noStrike">
                <a:solidFill>
                  <a:schemeClr val="dk1"/>
                </a:solidFill>
                <a:highlight>
                  <a:srgbClr val="FFFFFF"/>
                </a:highlight>
                <a:latin typeface="Arial"/>
                <a:ea typeface="Arial"/>
                <a:cs typeface="Arial"/>
                <a:sym typeface="Arial"/>
                <a:hlinkClick r:id="rId2">
                  <a:extLst>
                    <a:ext uri="{A12FA001-AC4F-418D-AE19-62706E023703}">
                      <ahyp:hlinkClr val="tx"/>
                    </a:ext>
                  </a:extLst>
                </a:hlinkClick>
              </a:rPr>
              <a:t>posturale</a:t>
            </a:r>
            <a:r>
              <a:rPr b="0" i="0" lang="it-IT" u="none">
                <a:solidFill>
                  <a:schemeClr val="dk1"/>
                </a:solidFill>
                <a:highlight>
                  <a:srgbClr val="FFFFFF"/>
                </a:highlight>
                <a:latin typeface="Arial"/>
                <a:ea typeface="Arial"/>
                <a:cs typeface="Arial"/>
                <a:sym typeface="Arial"/>
              </a:rPr>
              <a:t>, tipico del soggetto </a:t>
            </a:r>
            <a:r>
              <a:rPr b="0" i="0" lang="it-IT" u="sng" strike="noStrike">
                <a:solidFill>
                  <a:schemeClr val="dk1"/>
                </a:solidFill>
                <a:highlight>
                  <a:srgbClr val="FFFFFF"/>
                </a:highlight>
                <a:latin typeface="Arial"/>
                <a:ea typeface="Arial"/>
                <a:cs typeface="Arial"/>
                <a:sym typeface="Arial"/>
                <a:hlinkClick r:id="rId3">
                  <a:extLst>
                    <a:ext uri="{A12FA001-AC4F-418D-AE19-62706E023703}">
                      <ahyp:hlinkClr val="tx"/>
                    </a:ext>
                  </a:extLst>
                </a:hlinkClick>
              </a:rPr>
              <a:t>parkinsoniano</a:t>
            </a:r>
            <a:r>
              <a:rPr b="0" i="0" lang="it-IT" u="none">
                <a:solidFill>
                  <a:schemeClr val="dk1"/>
                </a:solidFill>
                <a:highlight>
                  <a:srgbClr val="FFFFFF"/>
                </a:highlight>
                <a:latin typeface="Arial"/>
                <a:ea typeface="Arial"/>
                <a:cs typeface="Arial"/>
                <a:sym typeface="Arial"/>
              </a:rPr>
              <a:t>, caratterizzato da:</a:t>
            </a:r>
            <a:endParaRPr/>
          </a:p>
          <a:p>
            <a:pPr indent="-76200" lvl="0" marL="0" rtl="0" algn="l">
              <a:spcBef>
                <a:spcPts val="0"/>
              </a:spcBef>
              <a:spcAft>
                <a:spcPts val="0"/>
              </a:spcAft>
              <a:buClr>
                <a:schemeClr val="dk1"/>
              </a:buClr>
              <a:buSzPts val="1200"/>
              <a:buFont typeface="Arial"/>
              <a:buChar char="•"/>
            </a:pPr>
            <a:r>
              <a:rPr b="0" i="0" lang="it-IT" u="sng" strike="noStrike">
                <a:solidFill>
                  <a:schemeClr val="dk1"/>
                </a:solidFill>
                <a:highlight>
                  <a:srgbClr val="FFFFFF"/>
                </a:highlight>
                <a:latin typeface="Arial"/>
                <a:ea typeface="Arial"/>
                <a:cs typeface="Arial"/>
                <a:sym typeface="Arial"/>
                <a:hlinkClick r:id="rId4">
                  <a:extLst>
                    <a:ext uri="{A12FA001-AC4F-418D-AE19-62706E023703}">
                      <ahyp:hlinkClr val="tx"/>
                    </a:ext>
                  </a:extLst>
                </a:hlinkClick>
              </a:rPr>
              <a:t>tronco</a:t>
            </a:r>
            <a:r>
              <a:rPr b="0" i="0" lang="it-IT" u="none">
                <a:solidFill>
                  <a:schemeClr val="dk1"/>
                </a:solidFill>
                <a:highlight>
                  <a:srgbClr val="FFFFFF"/>
                </a:highlight>
                <a:latin typeface="Arial"/>
                <a:ea typeface="Arial"/>
                <a:cs typeface="Arial"/>
                <a:sym typeface="Arial"/>
              </a:rPr>
              <a:t> e </a:t>
            </a:r>
            <a:r>
              <a:rPr b="0" i="0" lang="it-IT" u="sng" strike="noStrike">
                <a:solidFill>
                  <a:schemeClr val="dk1"/>
                </a:solidFill>
                <a:highlight>
                  <a:srgbClr val="FFFFFF"/>
                </a:highlight>
                <a:latin typeface="Arial"/>
                <a:ea typeface="Arial"/>
                <a:cs typeface="Arial"/>
                <a:sym typeface="Arial"/>
                <a:hlinkClick r:id="rId5">
                  <a:extLst>
                    <a:ext uri="{A12FA001-AC4F-418D-AE19-62706E023703}">
                      <ahyp:hlinkClr val="tx"/>
                    </a:ext>
                  </a:extLst>
                </a:hlinkClick>
              </a:rPr>
              <a:t>capo</a:t>
            </a:r>
            <a:r>
              <a:rPr b="0" i="0" lang="it-IT" u="none">
                <a:solidFill>
                  <a:schemeClr val="dk1"/>
                </a:solidFill>
                <a:highlight>
                  <a:srgbClr val="FFFFFF"/>
                </a:highlight>
                <a:latin typeface="Arial"/>
                <a:ea typeface="Arial"/>
                <a:cs typeface="Arial"/>
                <a:sym typeface="Arial"/>
              </a:rPr>
              <a:t> in lieve flessione;</a:t>
            </a:r>
            <a:endParaRPr/>
          </a:p>
          <a:p>
            <a:pPr indent="-76200" lvl="0" marL="0" rtl="0" algn="l">
              <a:spcBef>
                <a:spcPts val="0"/>
              </a:spcBef>
              <a:spcAft>
                <a:spcPts val="0"/>
              </a:spcAft>
              <a:buClr>
                <a:schemeClr val="dk1"/>
              </a:buClr>
              <a:buSzPts val="1200"/>
              <a:buFont typeface="Arial"/>
              <a:buChar char="•"/>
            </a:pPr>
            <a:r>
              <a:rPr b="0" i="0" lang="it-IT" u="sng" strike="noStrike">
                <a:solidFill>
                  <a:schemeClr val="dk1"/>
                </a:solidFill>
                <a:highlight>
                  <a:srgbClr val="FFFFFF"/>
                </a:highlight>
                <a:latin typeface="Arial"/>
                <a:ea typeface="Arial"/>
                <a:cs typeface="Arial"/>
                <a:sym typeface="Arial"/>
                <a:hlinkClick r:id="rId6">
                  <a:extLst>
                    <a:ext uri="{A12FA001-AC4F-418D-AE19-62706E023703}">
                      <ahyp:hlinkClr val="tx"/>
                    </a:ext>
                  </a:extLst>
                </a:hlinkClick>
              </a:rPr>
              <a:t>arti superiori</a:t>
            </a:r>
            <a:r>
              <a:rPr b="0" i="0" lang="it-IT" u="none">
                <a:solidFill>
                  <a:schemeClr val="dk1"/>
                </a:solidFill>
                <a:highlight>
                  <a:srgbClr val="FFFFFF"/>
                </a:highlight>
                <a:latin typeface="Arial"/>
                <a:ea typeface="Arial"/>
                <a:cs typeface="Arial"/>
                <a:sym typeface="Arial"/>
              </a:rPr>
              <a:t> </a:t>
            </a:r>
            <a:r>
              <a:rPr b="0" i="0" lang="it-IT" u="sng" strike="noStrike">
                <a:solidFill>
                  <a:schemeClr val="dk1"/>
                </a:solidFill>
                <a:highlight>
                  <a:srgbClr val="FFFFFF"/>
                </a:highlight>
                <a:latin typeface="Arial"/>
                <a:ea typeface="Arial"/>
                <a:cs typeface="Arial"/>
                <a:sym typeface="Arial"/>
                <a:hlinkClick r:id="rId7">
                  <a:extLst>
                    <a:ext uri="{A12FA001-AC4F-418D-AE19-62706E023703}">
                      <ahyp:hlinkClr val="tx"/>
                    </a:ext>
                  </a:extLst>
                </a:hlinkClick>
              </a:rPr>
              <a:t>addotti</a:t>
            </a:r>
            <a:r>
              <a:rPr b="0" i="0" lang="it-IT" u="none">
                <a:solidFill>
                  <a:schemeClr val="dk1"/>
                </a:solidFill>
                <a:highlight>
                  <a:srgbClr val="FFFFFF"/>
                </a:highlight>
                <a:latin typeface="Arial"/>
                <a:ea typeface="Arial"/>
                <a:cs typeface="Arial"/>
                <a:sym typeface="Arial"/>
              </a:rPr>
              <a:t>, con </a:t>
            </a:r>
            <a:r>
              <a:rPr b="0" i="0" lang="it-IT" u="sng" strike="noStrike">
                <a:solidFill>
                  <a:schemeClr val="dk1"/>
                </a:solidFill>
                <a:highlight>
                  <a:srgbClr val="FFFFFF"/>
                </a:highlight>
                <a:latin typeface="Arial"/>
                <a:ea typeface="Arial"/>
                <a:cs typeface="Arial"/>
                <a:sym typeface="Arial"/>
                <a:hlinkClick r:id="rId8">
                  <a:extLst>
                    <a:ext uri="{A12FA001-AC4F-418D-AE19-62706E023703}">
                      <ahyp:hlinkClr val="tx"/>
                    </a:ext>
                  </a:extLst>
                </a:hlinkClick>
              </a:rPr>
              <a:t>spalle</a:t>
            </a:r>
            <a:r>
              <a:rPr b="0" i="0" lang="it-IT" u="none">
                <a:solidFill>
                  <a:schemeClr val="dk1"/>
                </a:solidFill>
                <a:highlight>
                  <a:srgbClr val="FFFFFF"/>
                </a:highlight>
                <a:latin typeface="Arial"/>
                <a:ea typeface="Arial"/>
                <a:cs typeface="Arial"/>
                <a:sym typeface="Arial"/>
              </a:rPr>
              <a:t> anteposte e </a:t>
            </a:r>
            <a:r>
              <a:rPr b="0" i="0" lang="it-IT" u="sng" strike="noStrike">
                <a:solidFill>
                  <a:schemeClr val="dk1"/>
                </a:solidFill>
                <a:highlight>
                  <a:srgbClr val="FFFFFF"/>
                </a:highlight>
                <a:latin typeface="Arial"/>
                <a:ea typeface="Arial"/>
                <a:cs typeface="Arial"/>
                <a:sym typeface="Arial"/>
                <a:hlinkClick r:id="rId9">
                  <a:extLst>
                    <a:ext uri="{A12FA001-AC4F-418D-AE19-62706E023703}">
                      <ahyp:hlinkClr val="tx"/>
                    </a:ext>
                  </a:extLst>
                </a:hlinkClick>
              </a:rPr>
              <a:t>avambracci</a:t>
            </a:r>
            <a:r>
              <a:rPr b="0" i="0" lang="it-IT" u="none">
                <a:solidFill>
                  <a:schemeClr val="dk1"/>
                </a:solidFill>
                <a:highlight>
                  <a:srgbClr val="FFFFFF"/>
                </a:highlight>
                <a:latin typeface="Arial"/>
                <a:ea typeface="Arial"/>
                <a:cs typeface="Arial"/>
                <a:sym typeface="Arial"/>
              </a:rPr>
              <a:t> in semiflessione e intrarotazione;</a:t>
            </a:r>
            <a:endParaRPr/>
          </a:p>
          <a:p>
            <a:pPr indent="-76200" lvl="0" marL="0" rtl="0" algn="l">
              <a:spcBef>
                <a:spcPts val="0"/>
              </a:spcBef>
              <a:spcAft>
                <a:spcPts val="0"/>
              </a:spcAft>
              <a:buClr>
                <a:schemeClr val="dk1"/>
              </a:buClr>
              <a:buSzPts val="1200"/>
              <a:buFont typeface="Arial"/>
              <a:buChar char="•"/>
            </a:pPr>
            <a:r>
              <a:rPr b="0" i="0" lang="it-IT" u="sng" strike="noStrike">
                <a:solidFill>
                  <a:schemeClr val="dk1"/>
                </a:solidFill>
                <a:highlight>
                  <a:srgbClr val="FFFFFF"/>
                </a:highlight>
                <a:latin typeface="Arial"/>
                <a:ea typeface="Arial"/>
                <a:cs typeface="Arial"/>
                <a:sym typeface="Arial"/>
                <a:hlinkClick r:id="rId10">
                  <a:extLst>
                    <a:ext uri="{A12FA001-AC4F-418D-AE19-62706E023703}">
                      <ahyp:hlinkClr val="tx"/>
                    </a:ext>
                  </a:extLst>
                </a:hlinkClick>
              </a:rPr>
              <a:t>arti inferiori</a:t>
            </a:r>
            <a:r>
              <a:rPr b="0" i="0" lang="it-IT" u="none">
                <a:solidFill>
                  <a:schemeClr val="dk1"/>
                </a:solidFill>
                <a:highlight>
                  <a:srgbClr val="FFFFFF"/>
                </a:highlight>
                <a:latin typeface="Arial"/>
                <a:ea typeface="Arial"/>
                <a:cs typeface="Arial"/>
                <a:sym typeface="Arial"/>
              </a:rPr>
              <a:t> addotti, con </a:t>
            </a:r>
            <a:r>
              <a:rPr b="0" i="0" lang="it-IT" u="sng" strike="noStrike">
                <a:solidFill>
                  <a:schemeClr val="dk1"/>
                </a:solidFill>
                <a:highlight>
                  <a:srgbClr val="FFFFFF"/>
                </a:highlight>
                <a:latin typeface="Arial"/>
                <a:ea typeface="Arial"/>
                <a:cs typeface="Arial"/>
                <a:sym typeface="Arial"/>
                <a:hlinkClick r:id="rId11">
                  <a:extLst>
                    <a:ext uri="{A12FA001-AC4F-418D-AE19-62706E023703}">
                      <ahyp:hlinkClr val="tx"/>
                    </a:ext>
                  </a:extLst>
                </a:hlinkClick>
              </a:rPr>
              <a:t>cosce</a:t>
            </a:r>
            <a:r>
              <a:rPr b="0" i="0" lang="it-IT" u="none">
                <a:solidFill>
                  <a:schemeClr val="dk1"/>
                </a:solidFill>
                <a:highlight>
                  <a:srgbClr val="FFFFFF"/>
                </a:highlight>
                <a:latin typeface="Arial"/>
                <a:ea typeface="Arial"/>
                <a:cs typeface="Arial"/>
                <a:sym typeface="Arial"/>
              </a:rPr>
              <a:t> in semiflessione sul tronco, </a:t>
            </a:r>
            <a:r>
              <a:rPr b="0" i="0" lang="it-IT" u="sng" strike="noStrike">
                <a:solidFill>
                  <a:schemeClr val="dk1"/>
                </a:solidFill>
                <a:highlight>
                  <a:srgbClr val="FFFFFF"/>
                </a:highlight>
                <a:latin typeface="Arial"/>
                <a:ea typeface="Arial"/>
                <a:cs typeface="Arial"/>
                <a:sym typeface="Arial"/>
                <a:hlinkClick r:id="rId12">
                  <a:extLst>
                    <a:ext uri="{A12FA001-AC4F-418D-AE19-62706E023703}">
                      <ahyp:hlinkClr val="tx"/>
                    </a:ext>
                  </a:extLst>
                </a:hlinkClick>
              </a:rPr>
              <a:t>gambe</a:t>
            </a:r>
            <a:r>
              <a:rPr b="0" i="0" lang="it-IT" u="none">
                <a:solidFill>
                  <a:schemeClr val="dk1"/>
                </a:solidFill>
                <a:highlight>
                  <a:srgbClr val="FFFFFF"/>
                </a:highlight>
                <a:latin typeface="Arial"/>
                <a:ea typeface="Arial"/>
                <a:cs typeface="Arial"/>
                <a:sym typeface="Arial"/>
              </a:rPr>
              <a:t> in leggera flessione e </a:t>
            </a:r>
            <a:r>
              <a:rPr b="0" i="0" lang="it-IT" u="sng" strike="noStrike">
                <a:solidFill>
                  <a:schemeClr val="dk1"/>
                </a:solidFill>
                <a:highlight>
                  <a:srgbClr val="FFFFFF"/>
                </a:highlight>
                <a:latin typeface="Arial"/>
                <a:ea typeface="Arial"/>
                <a:cs typeface="Arial"/>
                <a:sym typeface="Arial"/>
                <a:hlinkClick r:id="rId13">
                  <a:extLst>
                    <a:ext uri="{A12FA001-AC4F-418D-AE19-62706E023703}">
                      <ahyp:hlinkClr val="tx"/>
                    </a:ext>
                  </a:extLst>
                </a:hlinkClick>
              </a:rPr>
              <a:t>piedi</a:t>
            </a:r>
            <a:r>
              <a:rPr b="0" i="0" lang="it-IT" u="none">
                <a:solidFill>
                  <a:schemeClr val="dk1"/>
                </a:solidFill>
                <a:highlight>
                  <a:srgbClr val="FFFFFF"/>
                </a:highlight>
                <a:latin typeface="Arial"/>
                <a:ea typeface="Arial"/>
                <a:cs typeface="Arial"/>
                <a:sym typeface="Arial"/>
              </a:rPr>
              <a:t> in atteggiamento di iniziale </a:t>
            </a:r>
            <a:r>
              <a:rPr b="0" i="0" lang="it-IT" u="sng" strike="noStrike">
                <a:solidFill>
                  <a:schemeClr val="dk1"/>
                </a:solidFill>
                <a:highlight>
                  <a:srgbClr val="FFFFFF"/>
                </a:highlight>
                <a:latin typeface="Arial"/>
                <a:ea typeface="Arial"/>
                <a:cs typeface="Arial"/>
                <a:sym typeface="Arial"/>
                <a:hlinkClick r:id="rId14">
                  <a:extLst>
                    <a:ext uri="{A12FA001-AC4F-418D-AE19-62706E023703}">
                      <ahyp:hlinkClr val="tx"/>
                    </a:ext>
                  </a:extLst>
                </a:hlinkClick>
              </a:rPr>
              <a:t>varismo</a:t>
            </a:r>
            <a:r>
              <a:rPr b="0" i="0" lang="it-IT" u="none">
                <a:solidFill>
                  <a:schemeClr val="dk1"/>
                </a:solidFill>
                <a:highlight>
                  <a:srgbClr val="FFFFFF"/>
                </a:highlight>
                <a:latin typeface="Arial"/>
                <a:ea typeface="Arial"/>
                <a:cs typeface="Arial"/>
                <a:sym typeface="Arial"/>
              </a:rPr>
              <a:t>.</a:t>
            </a:r>
            <a:endParaRPr/>
          </a:p>
          <a:p>
            <a:pPr indent="0" lvl="0" marL="0" rtl="0" algn="l">
              <a:spcBef>
                <a:spcPts val="0"/>
              </a:spcBef>
              <a:spcAft>
                <a:spcPts val="0"/>
              </a:spcAft>
              <a:buClr>
                <a:schemeClr val="dk1"/>
              </a:buClr>
              <a:buSzPts val="1200"/>
              <a:buFont typeface="Arial"/>
              <a:buNone/>
            </a:pPr>
            <a:r>
              <a:rPr b="0" i="0" lang="it-IT" u="none">
                <a:solidFill>
                  <a:schemeClr val="dk1"/>
                </a:solidFill>
                <a:highlight>
                  <a:srgbClr val="FFFFFF"/>
                </a:highlight>
                <a:latin typeface="Arial"/>
                <a:ea typeface="Arial"/>
                <a:cs typeface="Arial"/>
                <a:sym typeface="Arial"/>
              </a:rPr>
              <a:t>2: </a:t>
            </a:r>
            <a:r>
              <a:rPr b="0" i="0" lang="it-IT">
                <a:solidFill>
                  <a:srgbClr val="4D5156"/>
                </a:solidFill>
                <a:highlight>
                  <a:srgbClr val="FFFFFF"/>
                </a:highlight>
                <a:latin typeface="Arial"/>
                <a:ea typeface="Arial"/>
                <a:cs typeface="Arial"/>
                <a:sym typeface="Arial"/>
              </a:rPr>
              <a:t>La festinazione è una </a:t>
            </a:r>
            <a:r>
              <a:rPr b="0" i="0" lang="it-IT">
                <a:solidFill>
                  <a:srgbClr val="040C28"/>
                </a:solidFill>
                <a:highlight>
                  <a:srgbClr val="D3E3FD"/>
                </a:highlight>
                <a:latin typeface="Arial"/>
                <a:ea typeface="Arial"/>
                <a:cs typeface="Arial"/>
                <a:sym typeface="Arial"/>
              </a:rPr>
              <a:t>progressiva accelerazione dei passi</a:t>
            </a:r>
            <a:r>
              <a:rPr b="0" i="0" lang="it-IT">
                <a:solidFill>
                  <a:srgbClr val="4D5156"/>
                </a:solidFill>
                <a:highlight>
                  <a:srgbClr val="FFFFFF"/>
                </a:highlight>
                <a:latin typeface="Arial"/>
                <a:ea typeface="Arial"/>
                <a:cs typeface="Arial"/>
                <a:sym typeface="Arial"/>
              </a:rPr>
              <a:t> (solitamente con inclinazione in avanti), per cui i pazienti accelerano per evitare di cadere in avanti.</a:t>
            </a:r>
            <a:endParaRPr b="0" i="0" u="none">
              <a:solidFill>
                <a:schemeClr val="dk1"/>
              </a:solidFill>
              <a:highlight>
                <a:srgbClr val="FFFFFF"/>
              </a:highlight>
              <a:latin typeface="Arial"/>
              <a:ea typeface="Arial"/>
              <a:cs typeface="Arial"/>
              <a:sym typeface="Arial"/>
            </a:endParaRPr>
          </a:p>
          <a:p>
            <a:pPr indent="0" lvl="0" marL="0" rtl="0" algn="l">
              <a:spcBef>
                <a:spcPts val="0"/>
              </a:spcBef>
              <a:spcAft>
                <a:spcPts val="0"/>
              </a:spcAft>
              <a:buNone/>
            </a:pPr>
            <a:r>
              <a:t/>
            </a:r>
            <a:endParaRPr u="none">
              <a:solidFill>
                <a:schemeClr val="dk1"/>
              </a:solidFill>
            </a:endParaRPr>
          </a:p>
        </p:txBody>
      </p:sp>
      <p:sp>
        <p:nvSpPr>
          <p:cNvPr id="156" name="Google Shape;1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grpSp>
        <p:nvGrpSpPr>
          <p:cNvPr id="89" name="Google Shape;89;p1"/>
          <p:cNvGrpSpPr/>
          <p:nvPr/>
        </p:nvGrpSpPr>
        <p:grpSpPr>
          <a:xfrm>
            <a:off x="0" y="0"/>
            <a:ext cx="12196668" cy="4570886"/>
            <a:chOff x="0" y="0"/>
            <a:chExt cx="12196668" cy="4570886"/>
          </a:xfrm>
        </p:grpSpPr>
        <p:sp>
          <p:nvSpPr>
            <p:cNvPr id="90" name="Google Shape;90;p1"/>
            <p:cNvSpPr/>
            <p:nvPr/>
          </p:nvSpPr>
          <p:spPr>
            <a:xfrm rot="10800000">
              <a:off x="0" y="0"/>
              <a:ext cx="12196668" cy="4570632"/>
            </a:xfrm>
            <a:prstGeom prst="rect">
              <a:avLst/>
            </a:prstGeom>
            <a:gradFill>
              <a:gsLst>
                <a:gs pos="0">
                  <a:schemeClr val="accent5"/>
                </a:gs>
                <a:gs pos="100000">
                  <a:schemeClr val="accent2"/>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 name="Google Shape;91;p1"/>
            <p:cNvSpPr/>
            <p:nvPr/>
          </p:nvSpPr>
          <p:spPr>
            <a:xfrm>
              <a:off x="0" y="2791"/>
              <a:ext cx="10565988" cy="4568095"/>
            </a:xfrm>
            <a:prstGeom prst="rect">
              <a:avLst/>
            </a:prstGeom>
            <a:gradFill>
              <a:gsLst>
                <a:gs pos="0">
                  <a:schemeClr val="accent2"/>
                </a:gs>
                <a:gs pos="3000">
                  <a:schemeClr val="accent2"/>
                </a:gs>
                <a:gs pos="40000">
                  <a:srgbClr val="ED7D31">
                    <a:alpha val="0"/>
                  </a:srgbClr>
                </a:gs>
                <a:gs pos="100000">
                  <a:srgbClr val="ED7D31">
                    <a:alpha val="0"/>
                  </a:srgbClr>
                </a:gs>
              </a:gsLst>
              <a:lin ang="17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 name="Google Shape;92;p1"/>
            <p:cNvSpPr/>
            <p:nvPr/>
          </p:nvSpPr>
          <p:spPr>
            <a:xfrm>
              <a:off x="0" y="2"/>
              <a:ext cx="12192000" cy="4549891"/>
            </a:xfrm>
            <a:prstGeom prst="rect">
              <a:avLst/>
            </a:prstGeom>
            <a:gradFill>
              <a:gsLst>
                <a:gs pos="0">
                  <a:srgbClr val="5B9BD5">
                    <a:alpha val="75686"/>
                  </a:srgbClr>
                </a:gs>
                <a:gs pos="67000">
                  <a:srgbClr val="ED7D31">
                    <a:alpha val="0"/>
                  </a:srgbClr>
                </a:gs>
                <a:gs pos="100000">
                  <a:srgbClr val="ED7D31">
                    <a:alpha val="0"/>
                  </a:srgbClr>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 name="Google Shape;93;p1"/>
            <p:cNvSpPr/>
            <p:nvPr/>
          </p:nvSpPr>
          <p:spPr>
            <a:xfrm rot="10800000">
              <a:off x="4110544" y="18215"/>
              <a:ext cx="8086124" cy="4549887"/>
            </a:xfrm>
            <a:prstGeom prst="rect">
              <a:avLst/>
            </a:prstGeom>
            <a:gradFill>
              <a:gsLst>
                <a:gs pos="0">
                  <a:srgbClr val="1E4E79">
                    <a:alpha val="35686"/>
                  </a:srgbClr>
                </a:gs>
                <a:gs pos="45000">
                  <a:srgbClr val="5B9BD5">
                    <a:alpha val="0"/>
                  </a:srgbClr>
                </a:gs>
                <a:gs pos="100000">
                  <a:srgbClr val="5B9BD5">
                    <a:alpha val="0"/>
                  </a:srgbClr>
                </a:gs>
              </a:gsLst>
              <a:lin ang="4200000" scaled="0"/>
            </a:gra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94" name="Google Shape;94;p1"/>
          <p:cNvSpPr txBox="1"/>
          <p:nvPr>
            <p:ph type="ctrTitle"/>
          </p:nvPr>
        </p:nvSpPr>
        <p:spPr>
          <a:xfrm>
            <a:off x="363124" y="251167"/>
            <a:ext cx="10029332" cy="32631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9600"/>
              <a:buFont typeface="Calibri"/>
              <a:buNone/>
            </a:pPr>
            <a:r>
              <a:rPr lang="it-IT" sz="9600">
                <a:solidFill>
                  <a:schemeClr val="lt1"/>
                </a:solidFill>
                <a:latin typeface="Calibri"/>
                <a:ea typeface="Calibri"/>
                <a:cs typeface="Calibri"/>
                <a:sym typeface="Calibri"/>
              </a:rPr>
              <a:t>Deambulazioni patologiche</a:t>
            </a:r>
            <a:endParaRPr b="1" sz="11500">
              <a:solidFill>
                <a:schemeClr val="lt1"/>
              </a:solidFill>
              <a:latin typeface="Calibri"/>
              <a:ea typeface="Calibri"/>
              <a:cs typeface="Calibri"/>
              <a:sym typeface="Calibri"/>
            </a:endParaRPr>
          </a:p>
        </p:txBody>
      </p:sp>
      <p:sp>
        <p:nvSpPr>
          <p:cNvPr id="95" name="Google Shape;95;p1"/>
          <p:cNvSpPr txBox="1"/>
          <p:nvPr>
            <p:ph idx="1" type="subTitle"/>
          </p:nvPr>
        </p:nvSpPr>
        <p:spPr>
          <a:xfrm>
            <a:off x="1126347" y="5099566"/>
            <a:ext cx="7299195" cy="1651394"/>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ctr">
              <a:lnSpc>
                <a:spcPct val="90000"/>
              </a:lnSpc>
              <a:spcBef>
                <a:spcPts val="0"/>
              </a:spcBef>
              <a:spcAft>
                <a:spcPts val="0"/>
              </a:spcAft>
              <a:buClr>
                <a:schemeClr val="dk1"/>
              </a:buClr>
              <a:buSzPct val="100000"/>
              <a:buNone/>
            </a:pPr>
            <a:r>
              <a:rPr b="1" lang="it-IT" sz="5800"/>
              <a:t>Bioingegneria della Riabilitazione</a:t>
            </a:r>
            <a:endParaRPr/>
          </a:p>
          <a:p>
            <a:pPr indent="0" lvl="0" marL="0" rtl="0" algn="ctr">
              <a:lnSpc>
                <a:spcPct val="90000"/>
              </a:lnSpc>
              <a:spcBef>
                <a:spcPts val="1000"/>
              </a:spcBef>
              <a:spcAft>
                <a:spcPts val="0"/>
              </a:spcAft>
              <a:buClr>
                <a:schemeClr val="dk1"/>
              </a:buClr>
              <a:buSzPct val="100000"/>
              <a:buNone/>
            </a:pPr>
            <a:r>
              <a:rPr b="1" lang="it-IT" sz="5800"/>
              <a:t> aa 2023/2024</a:t>
            </a:r>
            <a:endParaRPr/>
          </a:p>
          <a:p>
            <a:pPr indent="0" lvl="0" marL="0" rtl="0" algn="ctr">
              <a:lnSpc>
                <a:spcPct val="90000"/>
              </a:lnSpc>
              <a:spcBef>
                <a:spcPts val="1000"/>
              </a:spcBef>
              <a:spcAft>
                <a:spcPts val="0"/>
              </a:spcAft>
              <a:buClr>
                <a:schemeClr val="dk1"/>
              </a:buClr>
              <a:buSzPct val="100000"/>
              <a:buNone/>
            </a:pPr>
            <a:r>
              <a:rPr lang="it-IT" sz="3600"/>
              <a:t>CdLM Ingegneria Biomedica</a:t>
            </a:r>
            <a:endParaRPr/>
          </a:p>
        </p:txBody>
      </p:sp>
      <p:pic>
        <p:nvPicPr>
          <p:cNvPr descr="Immagine che contiene testo, Carattere, logo, simbolo&#10;&#10;Descrizione generata automaticamente" id="96" name="Google Shape;96;p1"/>
          <p:cNvPicPr preferRelativeResize="0"/>
          <p:nvPr/>
        </p:nvPicPr>
        <p:blipFill rotWithShape="1">
          <a:blip r:embed="rId3">
            <a:alphaModFix/>
          </a:blip>
          <a:srcRect b="0" l="0" r="0" t="0"/>
          <a:stretch/>
        </p:blipFill>
        <p:spPr>
          <a:xfrm>
            <a:off x="8892269" y="5068745"/>
            <a:ext cx="3000375" cy="11843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nvSpPr>
        <p:spPr>
          <a:xfrm>
            <a:off x="0" y="0"/>
            <a:ext cx="652005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4400" u="none" cap="none" strike="noStrike">
                <a:solidFill>
                  <a:srgbClr val="C00000"/>
                </a:solidFill>
                <a:latin typeface="Calibri"/>
                <a:ea typeface="Calibri"/>
                <a:cs typeface="Calibri"/>
                <a:sym typeface="Calibri"/>
              </a:rPr>
              <a:t>Deambulazione patologica </a:t>
            </a:r>
            <a:endParaRPr/>
          </a:p>
        </p:txBody>
      </p:sp>
      <p:sp>
        <p:nvSpPr>
          <p:cNvPr id="102" name="Google Shape;102;p2"/>
          <p:cNvSpPr txBox="1"/>
          <p:nvPr/>
        </p:nvSpPr>
        <p:spPr>
          <a:xfrm>
            <a:off x="169545" y="887135"/>
            <a:ext cx="11852910" cy="59708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2800">
                <a:solidFill>
                  <a:schemeClr val="dk1"/>
                </a:solidFill>
                <a:highlight>
                  <a:srgbClr val="FFFFFF"/>
                </a:highlight>
                <a:latin typeface="Calibri"/>
                <a:ea typeface="Calibri"/>
                <a:cs typeface="Calibri"/>
                <a:sym typeface="Calibri"/>
              </a:rPr>
              <a:t>Con il termine </a:t>
            </a:r>
            <a:r>
              <a:rPr b="1" i="0" lang="it-IT" sz="2800">
                <a:solidFill>
                  <a:schemeClr val="dk1"/>
                </a:solidFill>
                <a:highlight>
                  <a:srgbClr val="FFFFFF"/>
                </a:highlight>
                <a:latin typeface="Calibri"/>
                <a:ea typeface="Calibri"/>
                <a:cs typeface="Calibri"/>
                <a:sym typeface="Calibri"/>
              </a:rPr>
              <a:t>disturbo della deambulazione</a:t>
            </a:r>
            <a:r>
              <a:rPr b="0" i="0" lang="it-IT" sz="2800">
                <a:solidFill>
                  <a:schemeClr val="dk1"/>
                </a:solidFill>
                <a:highlight>
                  <a:srgbClr val="FFFFFF"/>
                </a:highlight>
                <a:latin typeface="Calibri"/>
                <a:ea typeface="Calibri"/>
                <a:cs typeface="Calibri"/>
                <a:sym typeface="Calibri"/>
              </a:rPr>
              <a:t> si fa riferimento alle alterazioni del ciclo del passo, dovute in genere a </a:t>
            </a:r>
            <a:r>
              <a:rPr b="1" i="0" lang="it-IT" sz="2800">
                <a:solidFill>
                  <a:schemeClr val="dk1"/>
                </a:solidFill>
                <a:highlight>
                  <a:srgbClr val="FFFFFF"/>
                </a:highlight>
                <a:latin typeface="Calibri"/>
                <a:ea typeface="Calibri"/>
                <a:cs typeface="Calibri"/>
                <a:sym typeface="Calibri"/>
              </a:rPr>
              <a:t>lesioni</a:t>
            </a:r>
            <a:r>
              <a:rPr b="0" i="0" lang="it-IT" sz="2800">
                <a:solidFill>
                  <a:schemeClr val="dk1"/>
                </a:solidFill>
                <a:highlight>
                  <a:srgbClr val="FFFFFF"/>
                </a:highlight>
                <a:latin typeface="Calibri"/>
                <a:ea typeface="Calibri"/>
                <a:cs typeface="Calibri"/>
                <a:sym typeface="Calibri"/>
              </a:rPr>
              <a:t> </a:t>
            </a:r>
            <a:r>
              <a:rPr b="1" i="0" lang="it-IT" sz="2800">
                <a:solidFill>
                  <a:schemeClr val="dk1"/>
                </a:solidFill>
                <a:highlight>
                  <a:srgbClr val="FFFFFF"/>
                </a:highlight>
                <a:latin typeface="Calibri"/>
                <a:ea typeface="Calibri"/>
                <a:cs typeface="Calibri"/>
                <a:sym typeface="Calibri"/>
              </a:rPr>
              <a:t>del SN </a:t>
            </a:r>
            <a:r>
              <a:rPr b="0" i="0" lang="it-IT" sz="2800">
                <a:solidFill>
                  <a:schemeClr val="dk1"/>
                </a:solidFill>
                <a:highlight>
                  <a:srgbClr val="FFFFFF"/>
                </a:highlight>
                <a:latin typeface="Calibri"/>
                <a:ea typeface="Calibri"/>
                <a:cs typeface="Calibri"/>
                <a:sym typeface="Calibri"/>
              </a:rPr>
              <a:t>(centrale e periferico) e/o del </a:t>
            </a:r>
            <a:r>
              <a:rPr b="1" i="0" lang="it-IT" sz="2800">
                <a:solidFill>
                  <a:schemeClr val="dk1"/>
                </a:solidFill>
                <a:highlight>
                  <a:srgbClr val="FFFFFF"/>
                </a:highlight>
                <a:latin typeface="Calibri"/>
                <a:ea typeface="Calibri"/>
                <a:cs typeface="Calibri"/>
                <a:sym typeface="Calibri"/>
              </a:rPr>
              <a:t>sistema muscolo-scheletrico</a:t>
            </a:r>
            <a:r>
              <a:rPr b="0" i="0" lang="it-IT" sz="2800">
                <a:solidFill>
                  <a:schemeClr val="dk1"/>
                </a:solidFill>
                <a:highlight>
                  <a:srgbClr val="FFFFFF"/>
                </a:highlight>
                <a:latin typeface="Calibri"/>
                <a:ea typeface="Calibri"/>
                <a:cs typeface="Calibri"/>
                <a:sym typeface="Calibri"/>
              </a:rPr>
              <a:t>. Queste lesioni possono provocare diminuzione della velocità di deambulazione, irregolarità e asimmetria dei movimenti del corpo e necessitare di</a:t>
            </a:r>
            <a:r>
              <a:rPr i="0" lang="it-IT" sz="2800">
                <a:solidFill>
                  <a:schemeClr val="dk1"/>
                </a:solidFill>
                <a:highlight>
                  <a:srgbClr val="FFFFFF"/>
                </a:highlight>
                <a:latin typeface="Calibri"/>
                <a:ea typeface="Calibri"/>
                <a:cs typeface="Calibri"/>
                <a:sym typeface="Calibri"/>
              </a:rPr>
              <a:t> </a:t>
            </a:r>
            <a:r>
              <a:rPr i="0" lang="it-IT" sz="2800" u="none" strike="noStrike">
                <a:solidFill>
                  <a:schemeClr val="dk1"/>
                </a:solidFill>
                <a:highlight>
                  <a:srgbClr val="FFFFFF"/>
                </a:highlight>
                <a:latin typeface="Calibri"/>
                <a:ea typeface="Calibri"/>
                <a:cs typeface="Calibri"/>
                <a:sym typeface="Calibri"/>
              </a:rPr>
              <a:t>ausili per muoversi in autonomia</a:t>
            </a:r>
            <a:r>
              <a:rPr i="0" lang="it-IT" sz="2800">
                <a:solidFill>
                  <a:schemeClr val="dk1"/>
                </a:solidFill>
                <a:highlight>
                  <a:srgbClr val="FFFFFF"/>
                </a:highlight>
                <a:latin typeface="Calibri"/>
                <a:ea typeface="Calibri"/>
                <a:cs typeface="Calibri"/>
                <a:sym typeface="Calibri"/>
              </a:rPr>
              <a:t>.</a:t>
            </a:r>
            <a:endParaRPr/>
          </a:p>
          <a:p>
            <a:pPr indent="0" lvl="0" marL="0" marR="0" rtl="0" algn="l">
              <a:spcBef>
                <a:spcPts val="0"/>
              </a:spcBef>
              <a:spcAft>
                <a:spcPts val="0"/>
              </a:spcAft>
              <a:buNone/>
            </a:pPr>
            <a:r>
              <a:rPr lang="it-IT" sz="2800">
                <a:solidFill>
                  <a:schemeClr val="dk1"/>
                </a:solidFill>
                <a:highlight>
                  <a:srgbClr val="FFFFFF"/>
                </a:highlight>
                <a:latin typeface="Calibri"/>
                <a:ea typeface="Calibri"/>
                <a:cs typeface="Calibri"/>
                <a:sym typeface="Calibri"/>
              </a:rPr>
              <a:t>Lo studio sistematico mediante gait analysis </a:t>
            </a:r>
            <a:r>
              <a:rPr b="1" lang="it-IT" sz="2800">
                <a:solidFill>
                  <a:schemeClr val="dk1"/>
                </a:solidFill>
                <a:highlight>
                  <a:srgbClr val="FFFFFF"/>
                </a:highlight>
                <a:latin typeface="Calibri"/>
                <a:ea typeface="Calibri"/>
                <a:cs typeface="Calibri"/>
                <a:sym typeface="Calibri"/>
              </a:rPr>
              <a:t>integrata</a:t>
            </a:r>
            <a:r>
              <a:rPr lang="it-IT" sz="2800">
                <a:solidFill>
                  <a:schemeClr val="dk1"/>
                </a:solidFill>
                <a:highlight>
                  <a:srgbClr val="FFFFFF"/>
                </a:highlight>
                <a:latin typeface="Calibri"/>
                <a:ea typeface="Calibri"/>
                <a:cs typeface="Calibri"/>
                <a:sym typeface="Calibri"/>
              </a:rPr>
              <a:t> rappresenta il gold standard nella caratterizzazione dei disturbi del movimento.</a:t>
            </a:r>
            <a:endParaRPr b="0" i="0" sz="2800">
              <a:solidFill>
                <a:schemeClr val="dk1"/>
              </a:solidFill>
              <a:highlight>
                <a:srgbClr val="FFFFFF"/>
              </a:highlight>
              <a:latin typeface="Calibri"/>
              <a:ea typeface="Calibri"/>
              <a:cs typeface="Calibri"/>
              <a:sym typeface="Calibri"/>
            </a:endParaRPr>
          </a:p>
          <a:p>
            <a:pPr indent="0" lvl="0" marL="0" marR="0" rtl="0" algn="l">
              <a:spcBef>
                <a:spcPts val="0"/>
              </a:spcBef>
              <a:spcAft>
                <a:spcPts val="0"/>
              </a:spcAft>
              <a:buNone/>
            </a:pPr>
            <a:r>
              <a:rPr lang="it-IT" sz="2800">
                <a:solidFill>
                  <a:schemeClr val="dk1"/>
                </a:solidFill>
                <a:highlight>
                  <a:srgbClr val="FFFFFF"/>
                </a:highlight>
                <a:latin typeface="Calibri"/>
                <a:ea typeface="Calibri"/>
                <a:cs typeface="Calibri"/>
                <a:sym typeface="Calibri"/>
              </a:rPr>
              <a:t>Data</a:t>
            </a:r>
            <a:r>
              <a:rPr b="0" i="0" lang="it-IT" sz="2800">
                <a:solidFill>
                  <a:schemeClr val="dk1"/>
                </a:solidFill>
                <a:highlight>
                  <a:srgbClr val="FFFFFF"/>
                </a:highlight>
                <a:latin typeface="Calibri"/>
                <a:ea typeface="Calibri"/>
                <a:cs typeface="Calibri"/>
                <a:sym typeface="Calibri"/>
              </a:rPr>
              <a:t> la multifattorialità in grado di generare un disturbo della deambulazione, si è cercato nel tempo di descrivere l</a:t>
            </a:r>
            <a:r>
              <a:rPr lang="it-IT" sz="2800">
                <a:solidFill>
                  <a:schemeClr val="dk1"/>
                </a:solidFill>
                <a:highlight>
                  <a:srgbClr val="FFFFFF"/>
                </a:highlight>
                <a:latin typeface="Calibri"/>
                <a:ea typeface="Calibri"/>
                <a:cs typeface="Calibri"/>
                <a:sym typeface="Calibri"/>
              </a:rPr>
              <a:t>e</a:t>
            </a:r>
            <a:r>
              <a:rPr b="0" i="0" lang="it-IT" sz="2800">
                <a:solidFill>
                  <a:schemeClr val="dk1"/>
                </a:solidFill>
                <a:highlight>
                  <a:srgbClr val="FFFFFF"/>
                </a:highlight>
                <a:latin typeface="Calibri"/>
                <a:ea typeface="Calibri"/>
                <a:cs typeface="Calibri"/>
                <a:sym typeface="Calibri"/>
              </a:rPr>
              <a:t> alterazioni del pattern deambulatorio singolarmente, a prescindere dalla patologia che ne ha determinato l’insorgenza. </a:t>
            </a:r>
            <a:r>
              <a:rPr lang="it-IT" sz="2800">
                <a:solidFill>
                  <a:schemeClr val="dk1"/>
                </a:solidFill>
                <a:highlight>
                  <a:srgbClr val="FFFFFF"/>
                </a:highlight>
                <a:latin typeface="Calibri"/>
                <a:ea typeface="Calibri"/>
                <a:cs typeface="Calibri"/>
                <a:sym typeface="Calibri"/>
              </a:rPr>
              <a:t>T</a:t>
            </a:r>
            <a:r>
              <a:rPr b="0" i="0" lang="it-IT" sz="2800">
                <a:solidFill>
                  <a:schemeClr val="dk1"/>
                </a:solidFill>
                <a:highlight>
                  <a:srgbClr val="FFFFFF"/>
                </a:highlight>
                <a:latin typeface="Calibri"/>
                <a:ea typeface="Calibri"/>
                <a:cs typeface="Calibri"/>
                <a:sym typeface="Calibri"/>
              </a:rPr>
              <a:t>uttavia, essendo alcune alterazioni della deambulazione </a:t>
            </a:r>
            <a:r>
              <a:rPr b="1" i="0" lang="it-IT" sz="2800">
                <a:solidFill>
                  <a:schemeClr val="dk1"/>
                </a:solidFill>
                <a:highlight>
                  <a:srgbClr val="FFFFFF"/>
                </a:highlight>
                <a:latin typeface="Calibri"/>
                <a:ea typeface="Calibri"/>
                <a:cs typeface="Calibri"/>
                <a:sym typeface="Calibri"/>
              </a:rPr>
              <a:t>francamente caratterizzanti la patologia in atto</a:t>
            </a:r>
            <a:r>
              <a:rPr b="0" i="0" lang="it-IT" sz="2800">
                <a:solidFill>
                  <a:schemeClr val="dk1"/>
                </a:solidFill>
                <a:highlight>
                  <a:srgbClr val="FFFFFF"/>
                </a:highlight>
                <a:latin typeface="Calibri"/>
                <a:ea typeface="Calibri"/>
                <a:cs typeface="Calibri"/>
                <a:sym typeface="Calibri"/>
              </a:rPr>
              <a:t>, la classificazione dei disturbi della deambulazione è </a:t>
            </a:r>
            <a:r>
              <a:rPr b="1" i="0" lang="it-IT" sz="2800">
                <a:solidFill>
                  <a:schemeClr val="dk1"/>
                </a:solidFill>
                <a:highlight>
                  <a:srgbClr val="FFFFFF"/>
                </a:highlight>
                <a:latin typeface="Calibri"/>
                <a:ea typeface="Calibri"/>
                <a:cs typeface="Calibri"/>
                <a:sym typeface="Calibri"/>
              </a:rPr>
              <a:t>tipicamente nosologica </a:t>
            </a:r>
            <a:r>
              <a:rPr b="0" i="0" lang="it-IT" sz="2800">
                <a:solidFill>
                  <a:schemeClr val="dk1"/>
                </a:solidFill>
                <a:highlight>
                  <a:srgbClr val="FFFFFF"/>
                </a:highlight>
                <a:latin typeface="Calibri"/>
                <a:ea typeface="Calibri"/>
                <a:cs typeface="Calibri"/>
                <a:sym typeface="Calibri"/>
              </a:rPr>
              <a:t>(riferita cioè alla patologia di base).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0" y="18255"/>
            <a:ext cx="113538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it-IT">
                <a:solidFill>
                  <a:srgbClr val="C00000"/>
                </a:solidFill>
                <a:latin typeface="Calibri"/>
                <a:ea typeface="Calibri"/>
                <a:cs typeface="Calibri"/>
                <a:sym typeface="Calibri"/>
              </a:rPr>
              <a:t>Pattern tipici di disturbi della deambulazione</a:t>
            </a:r>
            <a:endParaRPr/>
          </a:p>
        </p:txBody>
      </p:sp>
      <p:sp>
        <p:nvSpPr>
          <p:cNvPr id="108" name="Google Shape;108;p3"/>
          <p:cNvSpPr txBox="1"/>
          <p:nvPr>
            <p:ph idx="1" type="body"/>
          </p:nvPr>
        </p:nvSpPr>
        <p:spPr>
          <a:xfrm>
            <a:off x="175260" y="1253331"/>
            <a:ext cx="1182624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it-IT"/>
              <a:t>Tra i pattern di deambulazione più note:</a:t>
            </a:r>
            <a:endParaRPr/>
          </a:p>
          <a:p>
            <a:pPr indent="-228600" lvl="0" marL="228600" rtl="0" algn="l">
              <a:lnSpc>
                <a:spcPct val="90000"/>
              </a:lnSpc>
              <a:spcBef>
                <a:spcPts val="1000"/>
              </a:spcBef>
              <a:spcAft>
                <a:spcPts val="0"/>
              </a:spcAft>
              <a:buClr>
                <a:schemeClr val="dk1"/>
              </a:buClr>
              <a:buSzPts val="2800"/>
              <a:buChar char="•"/>
            </a:pPr>
            <a:r>
              <a:rPr lang="it-IT"/>
              <a:t>parkinsoniana (deambulazione rigida, a tronco inclinato)</a:t>
            </a:r>
            <a:endParaRPr/>
          </a:p>
          <a:p>
            <a:pPr indent="-228600" lvl="0" marL="228600" rtl="0" algn="l">
              <a:lnSpc>
                <a:spcPct val="90000"/>
              </a:lnSpc>
              <a:spcBef>
                <a:spcPts val="1000"/>
              </a:spcBef>
              <a:spcAft>
                <a:spcPts val="0"/>
              </a:spcAft>
              <a:buClr>
                <a:schemeClr val="dk1"/>
              </a:buClr>
              <a:buSzPts val="2800"/>
              <a:buChar char="•"/>
            </a:pPr>
            <a:r>
              <a:rPr lang="it-IT"/>
              <a:t>emiparetica (causata da lesione cerebrale, es. ictus), steppante (debolezza muscolare)</a:t>
            </a:r>
            <a:endParaRPr/>
          </a:p>
          <a:p>
            <a:pPr indent="-228600" lvl="0" marL="228600" rtl="0" algn="l">
              <a:lnSpc>
                <a:spcPct val="90000"/>
              </a:lnSpc>
              <a:spcBef>
                <a:spcPts val="1000"/>
              </a:spcBef>
              <a:spcAft>
                <a:spcPts val="0"/>
              </a:spcAft>
              <a:buClr>
                <a:schemeClr val="dk1"/>
              </a:buClr>
              <a:buSzPts val="2800"/>
              <a:buChar char="•"/>
            </a:pPr>
            <a:r>
              <a:rPr lang="it-IT"/>
              <a:t>miopatica (deambulazione ondeggiante causata da disturbi della zona pelvica)</a:t>
            </a:r>
            <a:endParaRPr/>
          </a:p>
          <a:p>
            <a:pPr indent="-228600" lvl="0" marL="228600" rtl="0" algn="l">
              <a:lnSpc>
                <a:spcPct val="90000"/>
              </a:lnSpc>
              <a:spcBef>
                <a:spcPts val="1000"/>
              </a:spcBef>
              <a:spcAft>
                <a:spcPts val="0"/>
              </a:spcAft>
              <a:buClr>
                <a:schemeClr val="dk1"/>
              </a:buClr>
              <a:buSzPts val="2800"/>
              <a:buChar char="•"/>
            </a:pPr>
            <a:r>
              <a:rPr lang="it-IT"/>
              <a:t>antalgica claudicante (a causa del dolore di un arto)</a:t>
            </a:r>
            <a:endParaRPr/>
          </a:p>
          <a:p>
            <a:pPr indent="-228600" lvl="0" marL="228600" rtl="0" algn="l">
              <a:lnSpc>
                <a:spcPct val="90000"/>
              </a:lnSpc>
              <a:spcBef>
                <a:spcPts val="1000"/>
              </a:spcBef>
              <a:spcAft>
                <a:spcPts val="0"/>
              </a:spcAft>
              <a:buClr>
                <a:schemeClr val="dk1"/>
              </a:buClr>
              <a:buSzPts val="2800"/>
              <a:buChar char="•"/>
            </a:pPr>
            <a:r>
              <a:rPr lang="it-IT"/>
              <a:t>atassica (per lesione ai cordoni posteriori o al cervelletto)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0" y="-3132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it-IT">
                <a:solidFill>
                  <a:srgbClr val="C00000"/>
                </a:solidFill>
                <a:latin typeface="Calibri"/>
                <a:ea typeface="Calibri"/>
                <a:cs typeface="Calibri"/>
                <a:sym typeface="Calibri"/>
              </a:rPr>
              <a:t>Antalgic gait</a:t>
            </a:r>
            <a:endParaRPr b="1">
              <a:solidFill>
                <a:srgbClr val="C00000"/>
              </a:solidFill>
              <a:latin typeface="Calibri"/>
              <a:ea typeface="Calibri"/>
              <a:cs typeface="Calibri"/>
              <a:sym typeface="Calibri"/>
            </a:endParaRPr>
          </a:p>
        </p:txBody>
      </p:sp>
      <p:sp>
        <p:nvSpPr>
          <p:cNvPr id="115" name="Google Shape;115;p4"/>
          <p:cNvSpPr txBox="1"/>
          <p:nvPr>
            <p:ph idx="1" type="body"/>
          </p:nvPr>
        </p:nvSpPr>
        <p:spPr>
          <a:xfrm>
            <a:off x="129540" y="742950"/>
            <a:ext cx="6808470" cy="595503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it-IT" sz="2400"/>
              <a:t>Si tratta di un pattern </a:t>
            </a:r>
            <a:r>
              <a:rPr b="1" lang="it-IT" sz="2400"/>
              <a:t>compensatorio </a:t>
            </a:r>
            <a:r>
              <a:rPr lang="it-IT" sz="2400"/>
              <a:t>messo in atto per eliminare o ridurre la presenza di dolore presente a livello dell’ arto inferiore interessato o del bacino.</a:t>
            </a:r>
            <a:endParaRPr/>
          </a:p>
          <a:p>
            <a:pPr indent="0" lvl="0" marL="0" rtl="0" algn="l">
              <a:lnSpc>
                <a:spcPct val="90000"/>
              </a:lnSpc>
              <a:spcBef>
                <a:spcPts val="1000"/>
              </a:spcBef>
              <a:spcAft>
                <a:spcPts val="0"/>
              </a:spcAft>
              <a:buClr>
                <a:schemeClr val="dk1"/>
              </a:buClr>
              <a:buSzPts val="2400"/>
              <a:buNone/>
            </a:pPr>
            <a:r>
              <a:rPr b="1" lang="it-IT" sz="2400"/>
              <a:t>Caratteristiche di base</a:t>
            </a:r>
            <a:r>
              <a:rPr b="1" baseline="30000" lang="it-IT" sz="2400"/>
              <a:t>1</a:t>
            </a:r>
            <a:endParaRPr b="1" sz="2400"/>
          </a:p>
          <a:p>
            <a:pPr indent="-228600" lvl="0" marL="228600" rtl="0" algn="l">
              <a:lnSpc>
                <a:spcPct val="90000"/>
              </a:lnSpc>
              <a:spcBef>
                <a:spcPts val="1000"/>
              </a:spcBef>
              <a:spcAft>
                <a:spcPts val="0"/>
              </a:spcAft>
              <a:buClr>
                <a:schemeClr val="dk1"/>
              </a:buClr>
              <a:buSzPts val="2400"/>
              <a:buChar char="•"/>
            </a:pPr>
            <a:r>
              <a:rPr b="1" lang="it-IT" sz="2400"/>
              <a:t>Riduzione della durata della stance phase nel lato affetto: </a:t>
            </a:r>
            <a:r>
              <a:rPr lang="it-IT" sz="2400"/>
              <a:t>il Soggetto diminuisce la fase di appoggio dell’ emilato affetto, riducendo di fatto il tempo di carico sullo stesso</a:t>
            </a:r>
            <a:endParaRPr/>
          </a:p>
          <a:p>
            <a:pPr indent="-228600" lvl="0" marL="228600" rtl="0" algn="l">
              <a:lnSpc>
                <a:spcPct val="90000"/>
              </a:lnSpc>
              <a:spcBef>
                <a:spcPts val="1000"/>
              </a:spcBef>
              <a:spcAft>
                <a:spcPts val="0"/>
              </a:spcAft>
              <a:buClr>
                <a:schemeClr val="dk1"/>
              </a:buClr>
              <a:buSzPts val="2400"/>
              <a:buChar char="•"/>
            </a:pPr>
            <a:r>
              <a:rPr b="1" lang="it-IT" sz="2400"/>
              <a:t>Aumento della durata della swing phase nel lato affetto</a:t>
            </a:r>
            <a:endParaRPr/>
          </a:p>
        </p:txBody>
      </p:sp>
      <p:pic>
        <p:nvPicPr>
          <p:cNvPr id="116" name="Google Shape;116;p4"/>
          <p:cNvPicPr preferRelativeResize="0"/>
          <p:nvPr/>
        </p:nvPicPr>
        <p:blipFill rotWithShape="1">
          <a:blip r:embed="rId3">
            <a:alphaModFix/>
          </a:blip>
          <a:srcRect b="0" l="0" r="0" t="0"/>
          <a:stretch/>
        </p:blipFill>
        <p:spPr>
          <a:xfrm>
            <a:off x="6938010" y="536019"/>
            <a:ext cx="5198043" cy="3591401"/>
          </a:xfrm>
          <a:prstGeom prst="rect">
            <a:avLst/>
          </a:prstGeom>
          <a:noFill/>
          <a:ln>
            <a:noFill/>
          </a:ln>
        </p:spPr>
      </p:pic>
      <p:sp>
        <p:nvSpPr>
          <p:cNvPr id="117" name="Google Shape;117;p4"/>
          <p:cNvSpPr txBox="1"/>
          <p:nvPr/>
        </p:nvSpPr>
        <p:spPr>
          <a:xfrm>
            <a:off x="118111" y="4617720"/>
            <a:ext cx="12017942" cy="221599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02124"/>
              </a:buClr>
              <a:buSzPts val="2400"/>
              <a:buFont typeface="Arial"/>
              <a:buChar char="•"/>
            </a:pPr>
            <a:r>
              <a:rPr b="1" i="0" lang="it-IT" sz="2400">
                <a:solidFill>
                  <a:srgbClr val="202124"/>
                </a:solidFill>
                <a:highlight>
                  <a:srgbClr val="FFFFFF"/>
                </a:highlight>
                <a:latin typeface="Calibri"/>
                <a:ea typeface="Calibri"/>
                <a:cs typeface="Calibri"/>
                <a:sym typeface="Calibri"/>
              </a:rPr>
              <a:t>Fenomeno dell’ inversione della durata dei </a:t>
            </a:r>
            <a:r>
              <a:rPr b="1" lang="it-IT" sz="2400">
                <a:solidFill>
                  <a:srgbClr val="202124"/>
                </a:solidFill>
                <a:highlight>
                  <a:srgbClr val="FFFFFF"/>
                </a:highlight>
                <a:latin typeface="Calibri"/>
                <a:ea typeface="Calibri"/>
                <a:cs typeface="Calibri"/>
                <a:sym typeface="Calibri"/>
              </a:rPr>
              <a:t>cicli</a:t>
            </a:r>
            <a:r>
              <a:rPr lang="it-IT" sz="2400">
                <a:solidFill>
                  <a:srgbClr val="202124"/>
                </a:solidFill>
                <a:highlight>
                  <a:srgbClr val="FFFFFF"/>
                </a:highlight>
                <a:latin typeface="Calibri"/>
                <a:ea typeface="Calibri"/>
                <a:cs typeface="Calibri"/>
                <a:sym typeface="Calibri"/>
              </a:rPr>
              <a:t>: </a:t>
            </a:r>
            <a:r>
              <a:rPr b="0" i="0" lang="it-IT" sz="2400">
                <a:solidFill>
                  <a:srgbClr val="202124"/>
                </a:solidFill>
                <a:highlight>
                  <a:srgbClr val="FFFFFF"/>
                </a:highlight>
                <a:latin typeface="Calibri"/>
                <a:ea typeface="Calibri"/>
                <a:cs typeface="Calibri"/>
                <a:sym typeface="Calibri"/>
              </a:rPr>
              <a:t>On the affected, painful side, less time is spent in the stance phase and more in the swing phase. The opposite is true for the contralateral side that tends to compensate for the involved extremity</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1" lang="it-IT" sz="2400">
                <a:solidFill>
                  <a:schemeClr val="dk1"/>
                </a:solidFill>
                <a:latin typeface="Calibri"/>
                <a:ea typeface="Calibri"/>
                <a:cs typeface="Calibri"/>
                <a:sym typeface="Calibri"/>
              </a:rPr>
              <a:t>Riduzione dello shift del peso</a:t>
            </a:r>
            <a:r>
              <a:rPr lang="it-IT" sz="2400">
                <a:solidFill>
                  <a:schemeClr val="dk1"/>
                </a:solidFill>
                <a:latin typeface="Calibri"/>
                <a:ea typeface="Calibri"/>
                <a:cs typeface="Calibri"/>
                <a:sym typeface="Calibri"/>
              </a:rPr>
              <a:t> verso l’ emilato affetto nella fase di doppio appoggio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0" y="-3132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it-IT">
                <a:solidFill>
                  <a:srgbClr val="C00000"/>
                </a:solidFill>
                <a:latin typeface="Calibri"/>
                <a:ea typeface="Calibri"/>
                <a:cs typeface="Calibri"/>
                <a:sym typeface="Calibri"/>
              </a:rPr>
              <a:t>Hemiparetic gait</a:t>
            </a:r>
            <a:endParaRPr b="1">
              <a:solidFill>
                <a:srgbClr val="C00000"/>
              </a:solidFill>
              <a:latin typeface="Calibri"/>
              <a:ea typeface="Calibri"/>
              <a:cs typeface="Calibri"/>
              <a:sym typeface="Calibri"/>
            </a:endParaRPr>
          </a:p>
        </p:txBody>
      </p:sp>
      <p:sp>
        <p:nvSpPr>
          <p:cNvPr id="124" name="Google Shape;124;p5"/>
          <p:cNvSpPr txBox="1"/>
          <p:nvPr>
            <p:ph idx="1" type="body"/>
          </p:nvPr>
        </p:nvSpPr>
        <p:spPr>
          <a:xfrm>
            <a:off x="129540" y="742950"/>
            <a:ext cx="6661643" cy="595503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it-IT" sz="2400"/>
              <a:t>Si tratta di un pattern </a:t>
            </a:r>
            <a:r>
              <a:rPr b="1" lang="it-IT" sz="2400"/>
              <a:t>tipico per le lesioni di primo motoneurone (es. stroke, ma anche TBI, SM, etc.)</a:t>
            </a:r>
            <a:endParaRPr sz="2400"/>
          </a:p>
          <a:p>
            <a:pPr indent="0" lvl="0" marL="0" rtl="0" algn="l">
              <a:lnSpc>
                <a:spcPct val="90000"/>
              </a:lnSpc>
              <a:spcBef>
                <a:spcPts val="1000"/>
              </a:spcBef>
              <a:spcAft>
                <a:spcPts val="0"/>
              </a:spcAft>
              <a:buClr>
                <a:schemeClr val="dk1"/>
              </a:buClr>
              <a:buSzPts val="2400"/>
              <a:buNone/>
            </a:pPr>
            <a:r>
              <a:rPr b="1" lang="it-IT" sz="2400"/>
              <a:t>Caratteristiche di base</a:t>
            </a:r>
            <a:endParaRPr/>
          </a:p>
          <a:p>
            <a:pPr indent="-228600" lvl="0" marL="228600" rtl="0" algn="l">
              <a:lnSpc>
                <a:spcPct val="90000"/>
              </a:lnSpc>
              <a:spcBef>
                <a:spcPts val="1000"/>
              </a:spcBef>
              <a:spcAft>
                <a:spcPts val="0"/>
              </a:spcAft>
              <a:buClr>
                <a:schemeClr val="dk1"/>
              </a:buClr>
              <a:buSzPts val="2400"/>
              <a:buChar char="•"/>
            </a:pPr>
            <a:r>
              <a:rPr b="1" lang="it-IT" sz="2400"/>
              <a:t>Iperestensione del bacino nel lato affetto</a:t>
            </a:r>
            <a:endParaRPr/>
          </a:p>
          <a:p>
            <a:pPr indent="-228600" lvl="0" marL="228600" rtl="0" algn="l">
              <a:lnSpc>
                <a:spcPct val="90000"/>
              </a:lnSpc>
              <a:spcBef>
                <a:spcPts val="1000"/>
              </a:spcBef>
              <a:spcAft>
                <a:spcPts val="0"/>
              </a:spcAft>
              <a:buClr>
                <a:schemeClr val="dk1"/>
              </a:buClr>
              <a:buSzPts val="2400"/>
              <a:buChar char="•"/>
            </a:pPr>
            <a:r>
              <a:rPr b="1" lang="it-IT" sz="2400"/>
              <a:t>Iperestensione del ginocchio nel lato affetto, </a:t>
            </a:r>
            <a:r>
              <a:rPr lang="it-IT" sz="2400"/>
              <a:t>anche se spesso risulta instabile</a:t>
            </a:r>
            <a:endParaRPr/>
          </a:p>
          <a:p>
            <a:pPr indent="-228600" lvl="0" marL="228600" rtl="0" algn="l">
              <a:lnSpc>
                <a:spcPct val="90000"/>
              </a:lnSpc>
              <a:spcBef>
                <a:spcPts val="1000"/>
              </a:spcBef>
              <a:spcAft>
                <a:spcPts val="0"/>
              </a:spcAft>
              <a:buClr>
                <a:schemeClr val="dk1"/>
              </a:buClr>
              <a:buSzPts val="2400"/>
              <a:buChar char="•"/>
            </a:pPr>
            <a:r>
              <a:rPr b="1" lang="it-IT" sz="2400"/>
              <a:t>Flessione plantare ed inversione della caviglia (spesso drop foot!), </a:t>
            </a:r>
            <a:r>
              <a:rPr lang="it-IT" sz="2400"/>
              <a:t>presente sia nella fase di swing che nella fase di stance</a:t>
            </a:r>
            <a:endParaRPr sz="2400"/>
          </a:p>
        </p:txBody>
      </p:sp>
      <p:sp>
        <p:nvSpPr>
          <p:cNvPr id="125" name="Google Shape;125;p5"/>
          <p:cNvSpPr txBox="1"/>
          <p:nvPr/>
        </p:nvSpPr>
        <p:spPr>
          <a:xfrm>
            <a:off x="0" y="4251960"/>
            <a:ext cx="8500109" cy="29546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2400">
                <a:solidFill>
                  <a:schemeClr val="dk1"/>
                </a:solidFill>
                <a:latin typeface="Calibri"/>
                <a:ea typeface="Calibri"/>
                <a:cs typeface="Calibri"/>
                <a:sym typeface="Calibri"/>
              </a:rPr>
              <a:t>Per evitare che il piede entri in contatto con il pavimento, fisiologicamente si flettono anca e ginocchio. Tuttavia, la presenza di </a:t>
            </a:r>
            <a:r>
              <a:rPr b="1" lang="it-IT" sz="2400">
                <a:solidFill>
                  <a:schemeClr val="dk1"/>
                </a:solidFill>
                <a:latin typeface="Calibri"/>
                <a:ea typeface="Calibri"/>
                <a:cs typeface="Calibri"/>
                <a:sym typeface="Calibri"/>
              </a:rPr>
              <a:t>spasticità</a:t>
            </a:r>
            <a:r>
              <a:rPr lang="it-IT" sz="2400">
                <a:solidFill>
                  <a:schemeClr val="dk1"/>
                </a:solidFill>
                <a:latin typeface="Calibri"/>
                <a:ea typeface="Calibri"/>
                <a:cs typeface="Calibri"/>
                <a:sym typeface="Calibri"/>
              </a:rPr>
              <a:t> impedisce la flessione fisiologica; nella maggior parte dei casi, il Paziente, per poter avanzare, adotta come strategia la circonduzione dell’ arto inferiore.</a:t>
            </a:r>
            <a:endParaRPr/>
          </a:p>
          <a:p>
            <a:pPr indent="-285750" lvl="0" marL="285750" marR="0" rtl="0" algn="l">
              <a:spcBef>
                <a:spcPts val="0"/>
              </a:spcBef>
              <a:spcAft>
                <a:spcPts val="0"/>
              </a:spcAft>
              <a:buClr>
                <a:schemeClr val="dk1"/>
              </a:buClr>
              <a:buSzPts val="2400"/>
              <a:buFont typeface="Arial"/>
              <a:buChar char="•"/>
            </a:pPr>
            <a:r>
              <a:rPr b="1" lang="it-IT" sz="2400">
                <a:solidFill>
                  <a:schemeClr val="dk1"/>
                </a:solidFill>
                <a:latin typeface="Calibri"/>
                <a:ea typeface="Calibri"/>
                <a:cs typeface="Calibri"/>
                <a:sym typeface="Calibri"/>
              </a:rPr>
              <a:t>La lunghezza dei passi è aumentata dal lato affetto e diminuita nel lato non affetto</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6" name="Google Shape;126;p5"/>
          <p:cNvPicPr preferRelativeResize="0"/>
          <p:nvPr/>
        </p:nvPicPr>
        <p:blipFill rotWithShape="1">
          <a:blip r:embed="rId3">
            <a:alphaModFix/>
          </a:blip>
          <a:srcRect b="0" l="0" r="0" t="0"/>
          <a:stretch/>
        </p:blipFill>
        <p:spPr>
          <a:xfrm>
            <a:off x="6616667" y="110076"/>
            <a:ext cx="1621298" cy="3916873"/>
          </a:xfrm>
          <a:prstGeom prst="rect">
            <a:avLst/>
          </a:prstGeom>
          <a:noFill/>
          <a:ln>
            <a:noFill/>
          </a:ln>
        </p:spPr>
      </p:pic>
      <p:pic>
        <p:nvPicPr>
          <p:cNvPr id="127" name="Google Shape;127;p5"/>
          <p:cNvPicPr preferRelativeResize="0"/>
          <p:nvPr/>
        </p:nvPicPr>
        <p:blipFill rotWithShape="1">
          <a:blip r:embed="rId4">
            <a:alphaModFix/>
          </a:blip>
          <a:srcRect b="0" l="0" r="0" t="0"/>
          <a:stretch/>
        </p:blipFill>
        <p:spPr>
          <a:xfrm>
            <a:off x="8237965" y="364196"/>
            <a:ext cx="3494930" cy="2773339"/>
          </a:xfrm>
          <a:prstGeom prst="rect">
            <a:avLst/>
          </a:prstGeom>
          <a:noFill/>
          <a:ln>
            <a:noFill/>
          </a:ln>
        </p:spPr>
      </p:pic>
      <p:pic>
        <p:nvPicPr>
          <p:cNvPr id="128" name="Google Shape;128;p5"/>
          <p:cNvPicPr preferRelativeResize="0"/>
          <p:nvPr/>
        </p:nvPicPr>
        <p:blipFill rotWithShape="1">
          <a:blip r:embed="rId5">
            <a:alphaModFix/>
          </a:blip>
          <a:srcRect b="0" l="0" r="0" t="0"/>
          <a:stretch/>
        </p:blipFill>
        <p:spPr>
          <a:xfrm>
            <a:off x="8500109" y="3391655"/>
            <a:ext cx="3562351" cy="2363720"/>
          </a:xfrm>
          <a:prstGeom prst="rect">
            <a:avLst/>
          </a:prstGeom>
          <a:noFill/>
          <a:ln>
            <a:noFill/>
          </a:ln>
        </p:spPr>
      </p:pic>
      <p:sp>
        <p:nvSpPr>
          <p:cNvPr id="129" name="Google Shape;129;p5"/>
          <p:cNvSpPr txBox="1"/>
          <p:nvPr/>
        </p:nvSpPr>
        <p:spPr>
          <a:xfrm>
            <a:off x="8500109" y="5853724"/>
            <a:ext cx="3562351"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it-IT" sz="1800">
                <a:solidFill>
                  <a:schemeClr val="dk1"/>
                </a:solidFill>
                <a:latin typeface="Calibri"/>
                <a:ea typeface="Calibri"/>
                <a:cs typeface="Calibri"/>
                <a:sym typeface="Calibri"/>
              </a:rPr>
              <a:t>Scissoring gait: </a:t>
            </a:r>
            <a:r>
              <a:rPr lang="it-IT" sz="1800">
                <a:solidFill>
                  <a:schemeClr val="dk1"/>
                </a:solidFill>
                <a:latin typeface="Calibri"/>
                <a:ea typeface="Calibri"/>
                <a:cs typeface="Calibri"/>
                <a:sym typeface="Calibri"/>
              </a:rPr>
              <a:t>variante del cammino emiparetico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nvSpPr>
        <p:spPr>
          <a:xfrm>
            <a:off x="0" y="-31321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00000"/>
              </a:buClr>
              <a:buSzPts val="4400"/>
              <a:buFont typeface="Calibri"/>
              <a:buNone/>
            </a:pPr>
            <a:r>
              <a:rPr b="1" lang="it-IT" sz="4400">
                <a:solidFill>
                  <a:srgbClr val="C00000"/>
                </a:solidFill>
                <a:latin typeface="Calibri"/>
                <a:ea typeface="Calibri"/>
                <a:cs typeface="Calibri"/>
                <a:sym typeface="Calibri"/>
              </a:rPr>
              <a:t>Hemiparetic gait</a:t>
            </a:r>
            <a:endParaRPr b="1" sz="4400">
              <a:solidFill>
                <a:srgbClr val="C00000"/>
              </a:solidFill>
              <a:latin typeface="Calibri"/>
              <a:ea typeface="Calibri"/>
              <a:cs typeface="Calibri"/>
              <a:sym typeface="Calibri"/>
            </a:endParaRPr>
          </a:p>
        </p:txBody>
      </p:sp>
      <p:pic>
        <p:nvPicPr>
          <p:cNvPr id="135" name="Google Shape;135;p6"/>
          <p:cNvPicPr preferRelativeResize="0"/>
          <p:nvPr/>
        </p:nvPicPr>
        <p:blipFill rotWithShape="1">
          <a:blip r:embed="rId3">
            <a:alphaModFix/>
          </a:blip>
          <a:srcRect b="0" l="0" r="0" t="0"/>
          <a:stretch/>
        </p:blipFill>
        <p:spPr>
          <a:xfrm>
            <a:off x="403860" y="685800"/>
            <a:ext cx="11384279" cy="58635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7"/>
          <p:cNvPicPr preferRelativeResize="0"/>
          <p:nvPr/>
        </p:nvPicPr>
        <p:blipFill rotWithShape="1">
          <a:blip r:embed="rId3">
            <a:alphaModFix amt="83000"/>
          </a:blip>
          <a:srcRect b="0" l="0" r="0" t="0"/>
          <a:stretch/>
        </p:blipFill>
        <p:spPr>
          <a:xfrm>
            <a:off x="6409229" y="3023638"/>
            <a:ext cx="5701378" cy="3577101"/>
          </a:xfrm>
          <a:prstGeom prst="rect">
            <a:avLst/>
          </a:prstGeom>
          <a:noFill/>
          <a:ln>
            <a:noFill/>
          </a:ln>
        </p:spPr>
      </p:pic>
      <p:pic>
        <p:nvPicPr>
          <p:cNvPr id="141" name="Google Shape;141;p7"/>
          <p:cNvPicPr preferRelativeResize="0"/>
          <p:nvPr/>
        </p:nvPicPr>
        <p:blipFill rotWithShape="1">
          <a:blip r:embed="rId4">
            <a:alphaModFix/>
          </a:blip>
          <a:srcRect b="0" l="0" r="0" t="0"/>
          <a:stretch/>
        </p:blipFill>
        <p:spPr>
          <a:xfrm>
            <a:off x="172833" y="137160"/>
            <a:ext cx="6330028" cy="2886478"/>
          </a:xfrm>
          <a:prstGeom prst="rect">
            <a:avLst/>
          </a:prstGeom>
          <a:noFill/>
          <a:ln>
            <a:noFill/>
          </a:ln>
        </p:spPr>
      </p:pic>
      <p:sp>
        <p:nvSpPr>
          <p:cNvPr id="142" name="Google Shape;142;p7"/>
          <p:cNvSpPr txBox="1"/>
          <p:nvPr/>
        </p:nvSpPr>
        <p:spPr>
          <a:xfrm>
            <a:off x="6858000" y="1211067"/>
            <a:ext cx="51156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2000">
                <a:solidFill>
                  <a:schemeClr val="dk1"/>
                </a:solidFill>
                <a:latin typeface="Calibri"/>
                <a:ea typeface="Calibri"/>
                <a:cs typeface="Calibri"/>
                <a:sym typeface="Calibri"/>
              </a:rPr>
              <a:t>Lunghezza dei passi aumentata nel lato affetto</a:t>
            </a:r>
            <a:endParaRPr/>
          </a:p>
        </p:txBody>
      </p:sp>
      <p:sp>
        <p:nvSpPr>
          <p:cNvPr id="143" name="Google Shape;143;p7"/>
          <p:cNvSpPr txBox="1"/>
          <p:nvPr/>
        </p:nvSpPr>
        <p:spPr>
          <a:xfrm>
            <a:off x="172833" y="4812188"/>
            <a:ext cx="6033657"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it-IT" sz="2000">
                <a:solidFill>
                  <a:schemeClr val="dk1"/>
                </a:solidFill>
                <a:latin typeface="Calibri"/>
                <a:ea typeface="Calibri"/>
                <a:cs typeface="Calibri"/>
                <a:sym typeface="Calibri"/>
              </a:rPr>
              <a:t>Nel lato affetto spesso aumenta la percentuale della swing e diminuisce la fase di stance</a:t>
            </a:r>
            <a:endParaRPr b="1"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0" y="-28638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it-IT">
                <a:solidFill>
                  <a:srgbClr val="C00000"/>
                </a:solidFill>
                <a:latin typeface="Calibri"/>
                <a:ea typeface="Calibri"/>
                <a:cs typeface="Calibri"/>
                <a:sym typeface="Calibri"/>
              </a:rPr>
              <a:t>Morbo di Parkinson</a:t>
            </a:r>
            <a:endParaRPr/>
          </a:p>
        </p:txBody>
      </p:sp>
      <p:sp>
        <p:nvSpPr>
          <p:cNvPr id="149" name="Google Shape;149;p8"/>
          <p:cNvSpPr txBox="1"/>
          <p:nvPr>
            <p:ph idx="1" type="body"/>
          </p:nvPr>
        </p:nvSpPr>
        <p:spPr>
          <a:xfrm>
            <a:off x="205740" y="845821"/>
            <a:ext cx="8732520" cy="35433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it-IT"/>
              <a:t>La malattia di Parkinson è una sindrome </a:t>
            </a:r>
            <a:r>
              <a:rPr b="1" lang="it-IT"/>
              <a:t>extrapiramidale</a:t>
            </a:r>
            <a:r>
              <a:rPr lang="it-IT"/>
              <a:t> caratterizzata da </a:t>
            </a:r>
            <a:r>
              <a:rPr b="1" lang="it-IT"/>
              <a:t>rigidità muscolare </a:t>
            </a:r>
            <a:r>
              <a:rPr lang="it-IT"/>
              <a:t>che si manifesta con resistenza ai movimenti passivi, </a:t>
            </a:r>
            <a:r>
              <a:rPr b="1" lang="it-IT"/>
              <a:t>tremore</a:t>
            </a:r>
            <a:r>
              <a:rPr lang="it-IT"/>
              <a:t> che insorge durante lo stato di riposo e può aumentare in caso di stato di ansia e </a:t>
            </a:r>
            <a:r>
              <a:rPr b="1" lang="it-IT"/>
              <a:t>bradicinesia</a:t>
            </a:r>
            <a:r>
              <a:rPr lang="it-IT"/>
              <a:t> che provoca difficoltà a iniziare e terminare i movimenti. Questi sintomi si risolvono poi in </a:t>
            </a:r>
            <a:r>
              <a:rPr b="1" lang="it-IT"/>
              <a:t>disturbi dell’equilibrio</a:t>
            </a:r>
            <a:r>
              <a:rPr lang="it-IT"/>
              <a:t>, andatura impacciata e postura curva. Altri sintomi possono essere </a:t>
            </a:r>
            <a:r>
              <a:rPr b="1" lang="it-IT"/>
              <a:t>depressione</a:t>
            </a:r>
            <a:r>
              <a:rPr lang="it-IT"/>
              <a:t> e </a:t>
            </a:r>
            <a:r>
              <a:rPr b="1" lang="it-IT"/>
              <a:t>lentezza nel parlare</a:t>
            </a:r>
            <a:r>
              <a:rPr lang="it-IT"/>
              <a:t>.</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it-IT"/>
              <a:t> </a:t>
            </a:r>
            <a:endParaRPr/>
          </a:p>
          <a:p>
            <a:pPr indent="0" lvl="0" marL="0" rtl="0" algn="l">
              <a:lnSpc>
                <a:spcPct val="90000"/>
              </a:lnSpc>
              <a:spcBef>
                <a:spcPts val="1000"/>
              </a:spcBef>
              <a:spcAft>
                <a:spcPts val="0"/>
              </a:spcAft>
              <a:buClr>
                <a:schemeClr val="dk1"/>
              </a:buClr>
              <a:buSzPct val="100000"/>
              <a:buNone/>
            </a:pPr>
            <a:r>
              <a:t/>
            </a:r>
            <a:endParaRPr/>
          </a:p>
        </p:txBody>
      </p:sp>
      <p:sp>
        <p:nvSpPr>
          <p:cNvPr id="150" name="Google Shape;150;p8"/>
          <p:cNvSpPr txBox="1"/>
          <p:nvPr/>
        </p:nvSpPr>
        <p:spPr>
          <a:xfrm>
            <a:off x="205740" y="3429000"/>
            <a:ext cx="686943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2400"/>
              <a:buFont typeface="Calibri"/>
              <a:buNone/>
            </a:pPr>
            <a:r>
              <a:rPr b="1" i="0" lang="it-IT" sz="2400">
                <a:solidFill>
                  <a:srgbClr val="000000"/>
                </a:solidFill>
                <a:highlight>
                  <a:srgbClr val="FFFFFF"/>
                </a:highlight>
                <a:latin typeface="Calibri"/>
                <a:ea typeface="Calibri"/>
                <a:cs typeface="Calibri"/>
                <a:sym typeface="Calibri"/>
              </a:rPr>
              <a:t>🡪 Dopo la malattia di Alzheimer, quella di Parkinson è la malattia neurodegenerativa più diffusa</a:t>
            </a:r>
            <a:endParaRPr b="1" sz="2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Calibri"/>
              <a:buNone/>
            </a:pPr>
            <a:r>
              <a:rPr lang="it-IT" sz="2400">
                <a:solidFill>
                  <a:schemeClr val="dk1"/>
                </a:solidFill>
                <a:latin typeface="Calibri"/>
                <a:ea typeface="Calibri"/>
                <a:cs typeface="Calibri"/>
                <a:sym typeface="Calibri"/>
              </a:rPr>
              <a:t>La malattia ha un substrato anatomopatologico di </a:t>
            </a:r>
            <a:r>
              <a:rPr b="1" lang="it-IT" sz="2400">
                <a:solidFill>
                  <a:schemeClr val="dk1"/>
                </a:solidFill>
                <a:latin typeface="Calibri"/>
                <a:ea typeface="Calibri"/>
                <a:cs typeface="Calibri"/>
                <a:sym typeface="Calibri"/>
              </a:rPr>
              <a:t>degenerazione neuronale della sostanza nera</a:t>
            </a:r>
            <a:r>
              <a:rPr lang="it-IT" sz="2400">
                <a:solidFill>
                  <a:schemeClr val="dk1"/>
                </a:solidFill>
                <a:latin typeface="Calibri"/>
                <a:ea typeface="Calibri"/>
                <a:cs typeface="Calibri"/>
                <a:sym typeface="Calibri"/>
              </a:rPr>
              <a:t> (SNPC) con una progressione graduale e un decorso prolungato.</a:t>
            </a:r>
            <a:endParaRPr/>
          </a:p>
          <a:p>
            <a:pPr indent="0" lvl="0" marL="0" marR="0" rtl="0" algn="l">
              <a:spcBef>
                <a:spcPts val="0"/>
              </a:spcBef>
              <a:spcAft>
                <a:spcPts val="0"/>
              </a:spcAft>
              <a:buClr>
                <a:schemeClr val="dk1"/>
              </a:buClr>
              <a:buSzPts val="2400"/>
              <a:buFont typeface="Calibri"/>
              <a:buNone/>
            </a:pPr>
            <a:r>
              <a:rPr lang="it-IT" sz="2400">
                <a:solidFill>
                  <a:schemeClr val="dk1"/>
                </a:solidFill>
                <a:latin typeface="Calibri"/>
                <a:ea typeface="Calibri"/>
                <a:cs typeface="Calibri"/>
                <a:sym typeface="Calibri"/>
              </a:rPr>
              <a:t>Da un punto di vista biochimico è stata accertata una riduzione della quantità di dopamina a livello della SNPC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Morbo di Parkinson" id="151" name="Google Shape;151;p8"/>
          <p:cNvPicPr preferRelativeResize="0"/>
          <p:nvPr/>
        </p:nvPicPr>
        <p:blipFill rotWithShape="1">
          <a:blip r:embed="rId3">
            <a:alphaModFix/>
          </a:blip>
          <a:srcRect b="0" l="0" r="0" t="0"/>
          <a:stretch/>
        </p:blipFill>
        <p:spPr>
          <a:xfrm>
            <a:off x="8938260" y="84648"/>
            <a:ext cx="3048000" cy="4304473"/>
          </a:xfrm>
          <a:prstGeom prst="rect">
            <a:avLst/>
          </a:prstGeom>
          <a:noFill/>
          <a:ln>
            <a:noFill/>
          </a:ln>
        </p:spPr>
      </p:pic>
      <p:pic>
        <p:nvPicPr>
          <p:cNvPr id="152" name="Google Shape;152;p8"/>
          <p:cNvPicPr preferRelativeResize="0"/>
          <p:nvPr/>
        </p:nvPicPr>
        <p:blipFill rotWithShape="1">
          <a:blip r:embed="rId4">
            <a:alphaModFix/>
          </a:blip>
          <a:srcRect b="0" l="0" r="0" t="0"/>
          <a:stretch/>
        </p:blipFill>
        <p:spPr>
          <a:xfrm>
            <a:off x="6915150" y="4310206"/>
            <a:ext cx="5276850" cy="193090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9"/>
          <p:cNvPicPr preferRelativeResize="0"/>
          <p:nvPr/>
        </p:nvPicPr>
        <p:blipFill rotWithShape="1">
          <a:blip r:embed="rId3">
            <a:alphaModFix/>
          </a:blip>
          <a:srcRect b="0" l="0" r="0" t="0"/>
          <a:stretch/>
        </p:blipFill>
        <p:spPr>
          <a:xfrm>
            <a:off x="4593178" y="868998"/>
            <a:ext cx="7506088" cy="4228782"/>
          </a:xfrm>
          <a:prstGeom prst="rect">
            <a:avLst/>
          </a:prstGeom>
          <a:noFill/>
          <a:ln>
            <a:noFill/>
          </a:ln>
        </p:spPr>
      </p:pic>
      <p:sp>
        <p:nvSpPr>
          <p:cNvPr id="159" name="Google Shape;159;p9"/>
          <p:cNvSpPr txBox="1"/>
          <p:nvPr/>
        </p:nvSpPr>
        <p:spPr>
          <a:xfrm>
            <a:off x="0" y="103188"/>
            <a:ext cx="4743450" cy="58169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rgbClr val="C00000"/>
                </a:solidFill>
                <a:latin typeface="Calibri"/>
                <a:ea typeface="Calibri"/>
                <a:cs typeface="Calibri"/>
                <a:sym typeface="Calibri"/>
              </a:rPr>
              <a:t>Cammino nel Parkinson</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it-IT" sz="2400">
                <a:solidFill>
                  <a:schemeClr val="dk1"/>
                </a:solidFill>
                <a:latin typeface="Calibri"/>
                <a:ea typeface="Calibri"/>
                <a:cs typeface="Calibri"/>
                <a:sym typeface="Calibri"/>
              </a:rPr>
              <a:t>Dipende dallo stadio della patologia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it-IT" sz="2400">
                <a:solidFill>
                  <a:schemeClr val="dk1"/>
                </a:solidFill>
                <a:latin typeface="Calibri"/>
                <a:ea typeface="Calibri"/>
                <a:cs typeface="Calibri"/>
                <a:sym typeface="Calibri"/>
              </a:rPr>
              <a:t>Nelle fasi più avanzate della patologia, si caratterizza per: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Passo lento, ridotto in altezza e lunghezza</a:t>
            </a:r>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Camptocormia</a:t>
            </a:r>
            <a:r>
              <a:rPr baseline="30000" lang="it-IT" sz="2400">
                <a:solidFill>
                  <a:schemeClr val="dk1"/>
                </a:solidFill>
                <a:latin typeface="Calibri"/>
                <a:ea typeface="Calibri"/>
                <a:cs typeface="Calibri"/>
                <a:sym typeface="Calibri"/>
              </a:rPr>
              <a:t>1</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Festinazione</a:t>
            </a:r>
            <a:r>
              <a:rPr baseline="30000" lang="it-IT" sz="2400">
                <a:solidFill>
                  <a:schemeClr val="dk1"/>
                </a:solidFill>
                <a:latin typeface="Calibri"/>
                <a:ea typeface="Calibri"/>
                <a:cs typeface="Calibri"/>
                <a:sym typeface="Calibri"/>
              </a:rPr>
              <a:t>2</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Limitata rotazione del tronco </a:t>
            </a:r>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Riduzione delle sincinesie pendolari degli arti superiori durante la marcia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0"/>
          <p:cNvSpPr txBox="1"/>
          <p:nvPr>
            <p:ph type="title"/>
          </p:nvPr>
        </p:nvSpPr>
        <p:spPr>
          <a:xfrm>
            <a:off x="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it-IT">
                <a:solidFill>
                  <a:srgbClr val="C00000"/>
                </a:solidFill>
                <a:latin typeface="Calibri"/>
                <a:ea typeface="Calibri"/>
                <a:cs typeface="Calibri"/>
                <a:sym typeface="Calibri"/>
              </a:rPr>
              <a:t>Deambulazione atassica</a:t>
            </a:r>
            <a:endParaRPr/>
          </a:p>
        </p:txBody>
      </p:sp>
      <p:pic>
        <p:nvPicPr>
          <p:cNvPr id="165" name="Google Shape;165;p10"/>
          <p:cNvPicPr preferRelativeResize="0"/>
          <p:nvPr/>
        </p:nvPicPr>
        <p:blipFill rotWithShape="1">
          <a:blip r:embed="rId3">
            <a:alphaModFix/>
          </a:blip>
          <a:srcRect b="0" l="0" r="0" t="0"/>
          <a:stretch/>
        </p:blipFill>
        <p:spPr>
          <a:xfrm>
            <a:off x="3011855" y="1325563"/>
            <a:ext cx="6392026" cy="3595515"/>
          </a:xfrm>
          <a:prstGeom prst="rect">
            <a:avLst/>
          </a:prstGeom>
          <a:noFill/>
          <a:ln>
            <a:noFill/>
          </a:ln>
        </p:spPr>
      </p:pic>
      <p:sp>
        <p:nvSpPr>
          <p:cNvPr id="166" name="Google Shape;166;p10"/>
          <p:cNvSpPr txBox="1"/>
          <p:nvPr/>
        </p:nvSpPr>
        <p:spPr>
          <a:xfrm>
            <a:off x="194310" y="5074920"/>
            <a:ext cx="11510010" cy="156966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Tipica di disturbi del cervelletto, può essere riscontrata in diverse condizioni patologiche (es. Ictus, TBI, SM etc..)</a:t>
            </a:r>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A base allargata</a:t>
            </a:r>
            <a:endParaRPr/>
          </a:p>
          <a:p>
            <a:pPr indent="-285750" lvl="0" marL="28575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Passo dismetrico</a:t>
            </a:r>
            <a:endParaRPr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2024-01-12T14:29:30Z</dcterms:created>
  <dc:creator>giulio verrienti</dc:creator>
</cp:coreProperties>
</file>